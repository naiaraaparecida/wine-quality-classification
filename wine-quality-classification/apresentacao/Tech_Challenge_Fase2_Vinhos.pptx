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9843CB5-C828-F00A-5DF5-2595336E922C}">
          <p14:sldIdLst>
            <p14:sldId id="256"/>
          </p14:sldIdLst>
        </p14:section>
        <p14:section name="Análise" id="{2944E18E-B084-4A87-7C92-E76F76DE1836}">
          <p14:sldIdLst>
            <p14:sldId id="257"/>
            <p14:sldId id="258"/>
            <p14:sldId id="259"/>
            <p14:sldId id="260"/>
            <p14:sldId id="261"/>
          </p14:sldIdLst>
        </p14:section>
        <p14:section name="Conclusão" id="{EA939FA4-7E5D-ED27-E758-7064B0F9DDA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Acerto geral (%)</c:v>
                </c:pt>
              </c:strCache>
            </c:strRef>
          </c:tx>
          <c:spPr>
            <a:solidFill>
              <a:srgbClr val="D9B8C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1B1F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Reg. Logística</c:v>
                </c:pt>
                <c:pt idx="1">
                  <c:v>Reg. Logística ajustada</c:v>
                </c:pt>
                <c:pt idx="2">
                  <c:v>Random Forest</c:v>
                </c:pt>
                <c:pt idx="3">
                  <c:v>Random Forest ajustado</c:v>
                </c:pt>
                <c:pt idx="4">
                  <c:v>Gradient Boosting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80</c:v>
                </c:pt>
                <c:pt idx="2">
                  <c:v>92</c:v>
                </c:pt>
                <c:pt idx="3">
                  <c:v>91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E-4F8A-A5DD-84BE8CC26F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Excelentes encontrados (%)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1B1F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Reg. Logística</c:v>
                </c:pt>
                <c:pt idx="1">
                  <c:v>Reg. Logística ajustada</c:v>
                </c:pt>
                <c:pt idx="2">
                  <c:v>Random Forest</c:v>
                </c:pt>
                <c:pt idx="3">
                  <c:v>Random Forest ajustado</c:v>
                </c:pt>
                <c:pt idx="4">
                  <c:v>Gradient Boosting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</c:v>
                </c:pt>
                <c:pt idx="1">
                  <c:v>69</c:v>
                </c:pt>
                <c:pt idx="2">
                  <c:v>59</c:v>
                </c:pt>
                <c:pt idx="3">
                  <c:v>50</c:v>
                </c:pt>
                <c:pt idx="4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2E-4F8A-A5DD-84BE8CC26F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Confiança ao indicar excelente (%)</c:v>
                </c:pt>
              </c:strCache>
            </c:strRef>
          </c:tx>
          <c:spPr>
            <a:solidFill>
              <a:srgbClr val="7A1F3D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1B1F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Reg. Logística</c:v>
                </c:pt>
                <c:pt idx="1">
                  <c:v>Reg. Logística ajustada</c:v>
                </c:pt>
                <c:pt idx="2">
                  <c:v>Random Forest</c:v>
                </c:pt>
                <c:pt idx="3">
                  <c:v>Random Forest ajustado</c:v>
                </c:pt>
                <c:pt idx="4">
                  <c:v>Gradient Boosting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52</c:v>
                </c:pt>
                <c:pt idx="1">
                  <c:v>38</c:v>
                </c:pt>
                <c:pt idx="2">
                  <c:v>79</c:v>
                </c:pt>
                <c:pt idx="3">
                  <c:v>80</c:v>
                </c:pt>
                <c:pt idx="4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2E-4F8A-A5DD-84BE8CC26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B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0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[0:00-0:20] Olá, diretores. Eu sou [NOME] e, em cinco minutos, vou mostrar como usamos os dados da produção para responder a uma pergunta: dá para prever se um vinho será excelente antes da avaliação dos especialistas? E o que realmente faz diferença na qualidade?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[0:20-1:10] Hoje a qualidade é decidida por especialistas, na degustação: um trabalho valioso, mas demorado e que depende da percepção de cada avaliador. Analisamos 1.143 vinhos, cada um com 11 medidas de laboratório e a nota dos especialistas. Definimos vinho excelente como nota 7 ou mais. E o primeiro achado: eles são raros, só 159, ou 14%. Um modelo que dissesse sempre 'não é excelente' acertaria 86% das vezes e não serviria para nada. Por isso, precisamos medir se o modelo realmente encontra os excelentes.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[1:10-2:00] O que diferencia um vinho excelente? Cinco características se destacaram. A principal é o teor alcoólico: vinhos excelentes tendem a ser mais alcoólicos. Depois vêm os sulfatos e o ácido cítrico, mais altos nos excelentes, e a acidez volátil, mais baixa. A densidade completa a lista. A análise exploratória e o modelo apontaram para os mesmos fatores, o que dá confiança. Mas é associação, não causa: mudar uma medida isoladamente não garante um vinho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[2:00-2:35] Para prever a qualidade, testamos três técnicas e algumas variações. Separamos uma prova final, com vinhos que o modelo nunca viu. Neste gráfico, quanto mais alta a curva, melhor o modelo separa os vinhos excelentes dos demais, e o Random Forest ficou no topo.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[2:35-3:35] Aqui está a comparação lado a lado, com três medidas: quantos vinhos o modelo classifica corretamente no total, quantos dos excelentes ele encontra e quanto podemos confiar quando ele aponta um vinho como excelente. A Regressão Logística simples acerta 86%, mas encontra apenas 34% dos excelentes. A versão ajustada encontra mais, 69%, mas só 38% das indicações estão corretas, o que geraria muito retrabalho para os especialistas. O Gradient Boosting fica no meio do caminho. O Random Forest ajustado tem confiança parecida, 80%, mas encontra menos excelentes, só 50%. O Random Forest simples tem o melhor equilíbrio: 92% de acerto geral, 59% dos excelentes encontrados e 79% de confiança. Por isso, foi o escolhido.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[3:35-4:20] Na prática, o modelo escolhido classificou corretamente 92% dos vinhos da prova final. Dos 32 excelentes, identificou 19 e, quando indicou um vinho como excelente, acertou 79% das vezes. Sendo transparentes: ainda deixa passar de 4 a 5 em cada 10 excelentes. Funciona como apoio ao enólogo, não como substituto. O teste teve 229 vinhos, então os resultados devem ser confirmados com mais amostras.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[4:20-5:00] Três recomendações. Primeiro, acompanhar de perto na produção as cinco medidas que mais pesam. Segundo, usar o modelo como triagem inicial, para priorizar lotes que merecem atenção dos especialistas. Terceiro, evoluir: mais amostras de vinhos excelentes e ajuste do modelo ao objetivo do negócio. Em resumo: dados tornam a avaliação mais rápida e padronizada, apoiando, e não substituindo, a experiência dos nossos especialistas.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5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4864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_TITULO">
    <p:bg>
      <p:bgPr>
        <a:solidFill>
          <a:srgbClr val="5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Qual é o segredo de um vinho excelente?</a:t>
            </a:r>
            <a:endParaRPr lang="en-US" sz="3800" dirty="0"/>
          </a:p>
        </p:txBody>
      </p:sp>
      <p:sp>
        <p:nvSpPr>
          <p:cNvPr id="3" name="Subtitulo"/>
          <p:cNvSpPr txBox="1"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Como os dados ajudam a prever a qualidade dos vinhos</a:t>
            </a:r>
            <a:endParaRPr lang="en-US" sz="1800" dirty="0"/>
          </a:p>
        </p:txBody>
      </p:sp>
      <p:sp>
        <p:nvSpPr>
          <p:cNvPr id="4" name="Rodape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Tech Challenge · Fase 2 · POSTECH</a:t>
            </a:r>
            <a:endParaRPr lang="en-US" sz="1400" dirty="0"/>
          </a:p>
        </p:txBody>
      </p:sp>
      <p:sp>
        <p:nvSpPr>
          <p:cNvPr id="5" name="Anel"/>
          <p:cNvSpPr/>
          <p:nvPr/>
        </p:nvSpPr>
        <p:spPr>
          <a:xfrm>
            <a:off x="6492240" y="1097280"/>
            <a:ext cx="2103120" cy="2103120"/>
          </a:xfrm>
          <a:prstGeom prst="ellipse">
            <a:avLst/>
          </a:prstGeom>
          <a:ln w="508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Nota 7"/>
          <p:cNvSpPr txBox="1"/>
          <p:nvPr/>
        </p:nvSpPr>
        <p:spPr>
          <a:xfrm>
            <a:off x="6492240" y="1097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2"/>
                </a:solidFill>
              </a:rPr>
              <a:t>7+</a:t>
            </a:r>
            <a:endParaRPr lang="en-US" sz="6000" dirty="0"/>
          </a:p>
        </p:txBody>
      </p:sp>
      <p:sp>
        <p:nvSpPr>
          <p:cNvPr id="7" name="Legenda anel"/>
          <p:cNvSpPr txBox="1"/>
          <p:nvPr/>
        </p:nvSpPr>
        <p:spPr>
          <a:xfrm>
            <a:off x="630936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nota que define um vinho excelente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Vinho excelente é raro: só 14% da amostra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325880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Numero 1"/>
          <p:cNvSpPr txBox="1"/>
          <p:nvPr/>
        </p:nvSpPr>
        <p:spPr>
          <a:xfrm>
            <a:off x="73152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1.143</a:t>
            </a:r>
            <a:endParaRPr lang="en-US" sz="3200" dirty="0"/>
          </a:p>
        </p:txBody>
      </p:sp>
      <p:sp>
        <p:nvSpPr>
          <p:cNvPr id="5" name="Rotulo 1"/>
          <p:cNvSpPr txBox="1"/>
          <p:nvPr/>
        </p:nvSpPr>
        <p:spPr>
          <a:xfrm>
            <a:off x="2148840" y="1325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vinhos analisados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548640" y="2350008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Numero 2"/>
          <p:cNvSpPr txBox="1"/>
          <p:nvPr/>
        </p:nvSpPr>
        <p:spPr>
          <a:xfrm>
            <a:off x="731520" y="235000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11</a:t>
            </a:r>
            <a:endParaRPr lang="en-US" sz="3200" dirty="0"/>
          </a:p>
        </p:txBody>
      </p:sp>
      <p:sp>
        <p:nvSpPr>
          <p:cNvPr id="8" name="Rotulo 2"/>
          <p:cNvSpPr txBox="1"/>
          <p:nvPr/>
        </p:nvSpPr>
        <p:spPr>
          <a:xfrm>
            <a:off x="2148840" y="235000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medidas de laboratório por vinho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548640" y="3374136"/>
            <a:ext cx="4206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Numero 3"/>
          <p:cNvSpPr txBox="1"/>
          <p:nvPr/>
        </p:nvSpPr>
        <p:spPr>
          <a:xfrm>
            <a:off x="731520" y="3374136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159</a:t>
            </a:r>
            <a:endParaRPr lang="en-US" sz="3200" dirty="0"/>
          </a:p>
        </p:txBody>
      </p:sp>
      <p:sp>
        <p:nvSpPr>
          <p:cNvPr id="11" name="Rotulo 3"/>
          <p:cNvSpPr txBox="1"/>
          <p:nvPr/>
        </p:nvSpPr>
        <p:spPr>
          <a:xfrm>
            <a:off x="2148840" y="3374136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vinhos excelentes (nota 7 ou mais)</a:t>
            </a:r>
            <a:endParaRPr lang="en-US" sz="1400" dirty="0"/>
          </a:p>
        </p:txBody>
      </p:sp>
      <p:sp>
        <p:nvSpPr>
          <p:cNvPr id="12" name="Moldura Grafico distribuicao das classes"/>
          <p:cNvSpPr/>
          <p:nvPr/>
        </p:nvSpPr>
        <p:spPr>
          <a:xfrm>
            <a:off x="4937760" y="1325880"/>
            <a:ext cx="37490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Grafico distribuicao das classes" descr="Grafico distribuicao das c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17320"/>
            <a:ext cx="3566160" cy="2651760"/>
          </a:xfrm>
          <a:prstGeom prst="rect">
            <a:avLst/>
          </a:prstGeom>
        </p:spPr>
      </p:pic>
      <p:sp>
        <p:nvSpPr>
          <p:cNvPr id="14" name="Fonte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Vinho excelente = nota 7 ou mais, dada por especialistas.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diferencia um vinho excelente?</a:t>
            </a:r>
            <a:endParaRPr lang="en-US" sz="3000" dirty="0"/>
          </a:p>
        </p:txBody>
      </p:sp>
      <p:sp>
        <p:nvSpPr>
          <p:cNvPr id="3" name="Moldura Grafico importancia das caracteristicas"/>
          <p:cNvSpPr/>
          <p:nvPr/>
        </p:nvSpPr>
        <p:spPr>
          <a:xfrm>
            <a:off x="457200" y="1325880"/>
            <a:ext cx="4937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Grafico importancia das caracteristicas" descr="Grafico importancia das caracteristic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754880" cy="2834640"/>
          </a:xfrm>
          <a:prstGeom prst="rect">
            <a:avLst/>
          </a:prstGeom>
        </p:spPr>
      </p:pic>
      <p:sp>
        <p:nvSpPr>
          <p:cNvPr id="5" name="Card fator 1"/>
          <p:cNvSpPr/>
          <p:nvPr/>
        </p:nvSpPr>
        <p:spPr>
          <a:xfrm>
            <a:off x="5577840" y="1325880"/>
            <a:ext cx="31089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o fator 1"/>
          <p:cNvSpPr txBox="1"/>
          <p:nvPr/>
        </p:nvSpPr>
        <p:spPr>
          <a:xfrm>
            <a:off x="5715000" y="132588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Mais álcool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Vinhos excelentes tendem a ter teor alcoólico maior.</a:t>
            </a:r>
            <a:endParaRPr lang="en-US" sz="1500" dirty="0"/>
          </a:p>
        </p:txBody>
      </p:sp>
      <p:sp>
        <p:nvSpPr>
          <p:cNvPr id="7" name="Card fator 2"/>
          <p:cNvSpPr/>
          <p:nvPr/>
        </p:nvSpPr>
        <p:spPr>
          <a:xfrm>
            <a:off x="5577840" y="2350008"/>
            <a:ext cx="31089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o fator 2"/>
          <p:cNvSpPr txBox="1"/>
          <p:nvPr/>
        </p:nvSpPr>
        <p:spPr>
          <a:xfrm>
            <a:off x="5715000" y="235000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Mais sulfatos e ácido cítrico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Tendem a ser mais altos nos vinhos excelentes.</a:t>
            </a:r>
            <a:endParaRPr lang="en-US" sz="1500" dirty="0"/>
          </a:p>
        </p:txBody>
      </p:sp>
      <p:sp>
        <p:nvSpPr>
          <p:cNvPr id="9" name="Card fator 3"/>
          <p:cNvSpPr/>
          <p:nvPr/>
        </p:nvSpPr>
        <p:spPr>
          <a:xfrm>
            <a:off x="5577840" y="3374136"/>
            <a:ext cx="31089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o fator 3"/>
          <p:cNvSpPr txBox="1"/>
          <p:nvPr/>
        </p:nvSpPr>
        <p:spPr>
          <a:xfrm>
            <a:off x="5715000" y="337413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Menos acidez volátil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Tende a ser mais baixa nos vinhos excelentes.</a:t>
            </a:r>
            <a:endParaRPr lang="en-US" sz="1500" dirty="0"/>
          </a:p>
        </p:txBody>
      </p:sp>
      <p:sp>
        <p:nvSpPr>
          <p:cNvPr id="11" name="Aviso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Associação, não causa: mostra onde olhar, não o que mudar.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Testamos três técnicas; uma se destacou</a:t>
            </a:r>
            <a:endParaRPr lang="en-US" sz="3000" dirty="0"/>
          </a:p>
        </p:txBody>
      </p:sp>
      <p:sp>
        <p:nvSpPr>
          <p:cNvPr id="3" name="Moldura Curva ROC dos modelos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Curva ROC dos modelos" descr="Curva ROC dos model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840480" cy="3017520"/>
          </a:xfrm>
          <a:prstGeom prst="rect">
            <a:avLst/>
          </a:prstGeom>
        </p:spPr>
      </p:pic>
      <p:sp>
        <p:nvSpPr>
          <p:cNvPr id="5" name="Card escolhido"/>
          <p:cNvSpPr/>
          <p:nvPr/>
        </p:nvSpPr>
        <p:spPr>
          <a:xfrm>
            <a:off x="4754880" y="123444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o escolhido"/>
          <p:cNvSpPr txBox="1"/>
          <p:nvPr/>
        </p:nvSpPr>
        <p:spPr>
          <a:xfrm>
            <a:off x="4983480" y="14173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MODELO ESCOLHIDO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Random Forest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Curva mais alta = separa melhor os vinhos excelentes dos demais.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 Random Forest ficou no topo.</a:t>
            </a:r>
            <a:endParaRPr lang="en-US" sz="1200" dirty="0"/>
          </a:p>
        </p:txBody>
      </p:sp>
      <p:sp>
        <p:nvSpPr>
          <p:cNvPr id="7" name="Fonte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Prova final com 229 vinhos nunca vistos pelo modelo (32 excelentes).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Random Forest tem o melhor equilíbrio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nte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Prova final com 229 vinhos nunca vistos pelo modelo (32 excelentes).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o modelo escolhido entrega</a:t>
            </a:r>
            <a:endParaRPr lang="en-US" sz="3000" dirty="0"/>
          </a:p>
        </p:txBody>
      </p:sp>
      <p:sp>
        <p:nvSpPr>
          <p:cNvPr id="3" name="Card resultado 1"/>
          <p:cNvSpPr/>
          <p:nvPr/>
        </p:nvSpPr>
        <p:spPr>
          <a:xfrm>
            <a:off x="548640" y="132588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Numero resultado 1"/>
          <p:cNvSpPr txBox="1"/>
          <p:nvPr/>
        </p:nvSpPr>
        <p:spPr>
          <a:xfrm>
            <a:off x="6858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92%</a:t>
            </a:r>
            <a:endParaRPr lang="en-US" sz="4000" dirty="0"/>
          </a:p>
        </p:txBody>
      </p:sp>
      <p:sp>
        <p:nvSpPr>
          <p:cNvPr id="5" name="Rotulo resultado 1"/>
          <p:cNvSpPr txBox="1"/>
          <p:nvPr/>
        </p:nvSpPr>
        <p:spPr>
          <a:xfrm>
            <a:off x="73152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dos vinhos classificados corretamente</a:t>
            </a:r>
            <a:endParaRPr lang="en-US" sz="1400" dirty="0"/>
          </a:p>
        </p:txBody>
      </p:sp>
      <p:sp>
        <p:nvSpPr>
          <p:cNvPr id="6" name="Card resultado 2"/>
          <p:cNvSpPr/>
          <p:nvPr/>
        </p:nvSpPr>
        <p:spPr>
          <a:xfrm>
            <a:off x="3291840" y="132588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Numero resultado 2"/>
          <p:cNvSpPr txBox="1"/>
          <p:nvPr/>
        </p:nvSpPr>
        <p:spPr>
          <a:xfrm>
            <a:off x="34290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 de 32</a:t>
            </a:r>
            <a:endParaRPr lang="en-US" sz="4000" dirty="0"/>
          </a:p>
        </p:txBody>
      </p:sp>
      <p:sp>
        <p:nvSpPr>
          <p:cNvPr id="8" name="Rotulo resultado 2"/>
          <p:cNvSpPr txBox="1"/>
          <p:nvPr/>
        </p:nvSpPr>
        <p:spPr>
          <a:xfrm>
            <a:off x="347472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vinhos excelentes identificados na prova final</a:t>
            </a:r>
            <a:endParaRPr lang="en-US" sz="1400" dirty="0"/>
          </a:p>
        </p:txBody>
      </p:sp>
      <p:sp>
        <p:nvSpPr>
          <p:cNvPr id="9" name="Card resultado 3"/>
          <p:cNvSpPr/>
          <p:nvPr/>
        </p:nvSpPr>
        <p:spPr>
          <a:xfrm>
            <a:off x="6035040" y="132588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Numero resultado 3"/>
          <p:cNvSpPr txBox="1"/>
          <p:nvPr/>
        </p:nvSpPr>
        <p:spPr>
          <a:xfrm>
            <a:off x="61722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79%</a:t>
            </a:r>
            <a:endParaRPr lang="en-US" sz="4000" dirty="0"/>
          </a:p>
        </p:txBody>
      </p:sp>
      <p:sp>
        <p:nvSpPr>
          <p:cNvPr id="11" name="Rotulo resultado 3"/>
          <p:cNvSpPr txBox="1"/>
          <p:nvPr/>
        </p:nvSpPr>
        <p:spPr>
          <a:xfrm>
            <a:off x="621792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de acerto quando indica um vinho como excelente</a:t>
            </a:r>
            <a:endParaRPr lang="en-US" sz="1400" dirty="0"/>
          </a:p>
        </p:txBody>
      </p:sp>
      <p:sp>
        <p:nvSpPr>
          <p:cNvPr id="12" name="Card limite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o limite"/>
          <p:cNvSpPr txBox="1"/>
          <p:nvPr/>
        </p:nvSpPr>
        <p:spPr>
          <a:xfrm>
            <a:off x="777240" y="3566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Atenção: </a:t>
            </a:r>
            <a:r>
              <a:rPr lang="en-US" sz="1600" dirty="0">
                <a:solidFill>
                  <a:schemeClr val="bg1"/>
                </a:solidFill>
              </a:rPr>
              <a:t>ainda deixa passar de 4 a 5 em cada 10 vinhos excelentes. É um apoio ao enólogo, não um substituto.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Recomendações e próximos passos</a:t>
            </a:r>
            <a:endParaRPr lang="en-US" sz="3000" dirty="0"/>
          </a:p>
        </p:txBody>
      </p:sp>
      <p:sp>
        <p:nvSpPr>
          <p:cNvPr id="3" name="Circulo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Numero 1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Recomendacao 1"/>
          <p:cNvSpPr txBox="1"/>
          <p:nvPr/>
        </p:nvSpPr>
        <p:spPr>
          <a:xfrm>
            <a:off x="1508760" y="13258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Acompanhar de perto na produção: álcool, sulfatos, acidez volátil, ácido cítrico e densidade.</a:t>
            </a:r>
            <a:endParaRPr lang="en-US" sz="1700" dirty="0"/>
          </a:p>
        </p:txBody>
      </p:sp>
      <p:sp>
        <p:nvSpPr>
          <p:cNvPr id="6" name="Circulo 2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Numero 2"/>
          <p:cNvSpPr txBox="1"/>
          <p:nvPr/>
        </p:nvSpPr>
        <p:spPr>
          <a:xfrm>
            <a:off x="5486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Recomendacao 2"/>
          <p:cNvSpPr txBox="1"/>
          <p:nvPr/>
        </p:nvSpPr>
        <p:spPr>
          <a:xfrm>
            <a:off x="1508760" y="23317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Usar o modelo como triagem de apoio, priorizando lotes para a avaliação dos especialistas.</a:t>
            </a:r>
            <a:endParaRPr lang="en-US" sz="1700" dirty="0"/>
          </a:p>
        </p:txBody>
      </p:sp>
      <p:sp>
        <p:nvSpPr>
          <p:cNvPr id="9" name="Circulo 3"/>
          <p:cNvSpPr/>
          <p:nvPr/>
        </p:nvSpPr>
        <p:spPr>
          <a:xfrm>
            <a:off x="548640" y="34290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Numero 3"/>
          <p:cNvSpPr txBox="1"/>
          <p:nvPr/>
        </p:nvSpPr>
        <p:spPr>
          <a:xfrm>
            <a:off x="54864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Recomendacao 3"/>
          <p:cNvSpPr txBox="1"/>
          <p:nvPr/>
        </p:nvSpPr>
        <p:spPr>
          <a:xfrm>
            <a:off x="1508760" y="33375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Evoluir: mais amostras de vinhos excelentes e ajuste do modelo ao objetivo do negócio.</a:t>
            </a:r>
            <a:endParaRPr lang="en-US" sz="1700" dirty="0"/>
          </a:p>
        </p:txBody>
      </p:sp>
      <p:sp>
        <p:nvSpPr>
          <p:cNvPr id="12" name="Fechamento"/>
          <p:cNvSpPr txBox="1"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Os dados mostram relações, não causas: teste antes de mudar o processo.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nhos Executivo">
  <a:themeElements>
    <a:clrScheme name="Vinhos Executivo">
      <a:dk1>
        <a:srgbClr val="2B1B1F"/>
      </a:dk1>
      <a:lt1>
        <a:srgbClr val="FFFFFF"/>
      </a:lt1>
      <a:dk2>
        <a:srgbClr val="5B1A2B"/>
      </a:dk2>
      <a:lt2>
        <a:srgbClr val="F7EEF1"/>
      </a:lt2>
      <a:accent1>
        <a:srgbClr val="7A1F3D"/>
      </a:accent1>
      <a:accent2>
        <a:srgbClr val="C9A24B"/>
      </a:accent2>
      <a:accent3>
        <a:srgbClr val="A8607A"/>
      </a:accent3>
      <a:accent4>
        <a:srgbClr val="3F6B5B"/>
      </a:accent4>
      <a:accent5>
        <a:srgbClr val="8C8C8C"/>
      </a:accent5>
      <a:accent6>
        <a:srgbClr val="D9B8C4"/>
      </a:accent6>
      <a:hlink>
        <a:srgbClr val="7A1F3D"/>
      </a:hlink>
      <a:folHlink>
        <a:srgbClr val="A8607A"/>
      </a:folHlink>
    </a:clrScheme>
    <a:fontScheme name="Vinhos Execu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</Words>
  <Application>Microsoft Office PowerPoint</Application>
  <PresentationFormat>Apresentação na tela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Vinhos Executivo</vt:lpstr>
      <vt:lpstr>Qual é o segredo de um vinho excelente?</vt:lpstr>
      <vt:lpstr>Vinho excelente é raro: só 14% da amostra</vt:lpstr>
      <vt:lpstr>O que diferencia um vinho excelente?</vt:lpstr>
      <vt:lpstr>Testamos três técnicas; uma se destacou</vt:lpstr>
      <vt:lpstr>Random Forest tem o melhor equilíbrio</vt:lpstr>
      <vt:lpstr>O que o modelo escolhido entrega</vt:lpstr>
      <vt:lpstr>Recomendações e próximos passos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Fase 2 - Qualidade de Vinhos</dc:title>
  <dc:subject>PptxGenJS Presentation</dc:subject>
  <dc:creator>PptxGenJS</dc:creator>
  <cp:lastModifiedBy>Ana Julia Paiva Gomes</cp:lastModifiedBy>
  <cp:revision>1</cp:revision>
  <dcterms:created xsi:type="dcterms:W3CDTF">2026-10-29T01:12:08Z</dcterms:created>
  <dcterms:modified xsi:type="dcterms:W3CDTF">2026-10-29T01:22:58Z</dcterms:modified>
</cp:coreProperties>
</file>